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8" r:id="rId6"/>
    <p:sldId id="275" r:id="rId7"/>
    <p:sldId id="267" r:id="rId8"/>
    <p:sldId id="269" r:id="rId9"/>
    <p:sldId id="270" r:id="rId10"/>
    <p:sldId id="271" r:id="rId11"/>
    <p:sldId id="273" r:id="rId12"/>
    <p:sldId id="272" r:id="rId13"/>
    <p:sldId id="274" r:id="rId14"/>
    <p:sldId id="264" r:id="rId15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C16"/>
    <a:srgbClr val="0C788E"/>
    <a:srgbClr val="006666"/>
    <a:srgbClr val="0099CC"/>
    <a:srgbClr val="660066"/>
    <a:srgbClr val="1C1C1C"/>
    <a:srgbClr val="333333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23" autoAdjust="0"/>
    <p:restoredTop sz="75379" autoAdjust="0"/>
  </p:normalViewPr>
  <p:slideViewPr>
    <p:cSldViewPr>
      <p:cViewPr varScale="1">
        <p:scale>
          <a:sx n="120" d="100"/>
          <a:sy n="120" d="100"/>
        </p:scale>
        <p:origin x="286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57866-C01C-4B2C-AD6D-099B5EDE80A7}" type="datetimeFigureOut">
              <a:rPr lang="cs-CZ" smtClean="0"/>
              <a:t>23.08.2025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8D968-F3FB-4AE2-A918-D1F971CC900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118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 ř. sjednocení pro celou Evropu (všude je to stejně)</a:t>
            </a:r>
            <a:br>
              <a:rPr lang="cs-CZ" dirty="0"/>
            </a:br>
            <a:r>
              <a:rPr lang="cs-CZ" dirty="0"/>
              <a:t>Ve školním prostředí se jedná především o osobní údaje studentů, jejich zákonných zástupců a pracovníků školy.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0653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 ř. Nikde se nepíše jak přesně a co se má dělat.</a:t>
            </a:r>
          </a:p>
          <a:p>
            <a:endParaRPr lang="cs-CZ" dirty="0"/>
          </a:p>
          <a:p>
            <a:r>
              <a:rPr lang="cs-CZ" dirty="0"/>
              <a:t>3 ř. tvorba vlastních seznamů</a:t>
            </a:r>
          </a:p>
          <a:p>
            <a:endParaRPr lang="cs-CZ" dirty="0"/>
          </a:p>
          <a:p>
            <a:r>
              <a:rPr lang="cs-CZ" dirty="0"/>
              <a:t>4. ř. např. Pokud někdo poškodí pověst žáka zveřejněním nepravdivých informací, řeší se to podle OZ, nikoliv GDPR.</a:t>
            </a:r>
          </a:p>
          <a:p>
            <a:endParaRPr lang="cs-CZ" dirty="0"/>
          </a:p>
          <a:p>
            <a:r>
              <a:rPr lang="cs-CZ" dirty="0"/>
              <a:t>5 ř. mělo by se opravdu dodržovat a hlídat</a:t>
            </a:r>
          </a:p>
          <a:p>
            <a:endParaRPr lang="cs-CZ" dirty="0"/>
          </a:p>
          <a:p>
            <a:r>
              <a:rPr lang="cs-CZ" dirty="0"/>
              <a:t>6 ř. vždy existuje cesta, jak udělat něco v souladu s GDPR. Známka a číslo ve výkazu místo jména a příjmení atd.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4418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Osobní údaje - umožňuje identifikovat konkrétní osobu (jméno, příjmení, datum narození, adresa, telefon, e-mail, fotografie žáků nebo zaměstnanců, číslo žákovské karty, výsledky testů, docházka, chování ve třídě)</a:t>
            </a:r>
            <a:br>
              <a:rPr lang="cs-CZ" dirty="0"/>
            </a:br>
            <a:br>
              <a:rPr lang="cs-CZ" dirty="0"/>
            </a:br>
            <a:r>
              <a:rPr lang="cs-CZ" dirty="0"/>
              <a:t>Zpracování </a:t>
            </a:r>
            <a:r>
              <a:rPr lang="cs-CZ" altLang="cs-CZ" dirty="0"/>
              <a:t>– </a:t>
            </a:r>
            <a:r>
              <a:rPr lang="cs-CZ" dirty="0"/>
              <a:t>zapisování známek do systému, uchovávání docházky, zasílání e-mailů rodičům, sdílení informací se školníkem, tisk vysvědčení, archivace starých záznamů, mazání nepotřebných dat.</a:t>
            </a:r>
            <a:br>
              <a:rPr lang="cs-CZ" dirty="0"/>
            </a:br>
            <a:br>
              <a:rPr lang="cs-CZ" dirty="0"/>
            </a:br>
            <a:r>
              <a:rPr lang="cs-CZ" dirty="0"/>
              <a:t>Zvláštní kategorie – Zdravotní, etnické, náboženské, sociální poměry</a:t>
            </a:r>
            <a:br>
              <a:rPr lang="cs-CZ" dirty="0"/>
            </a:br>
            <a:br>
              <a:rPr lang="cs-CZ" dirty="0"/>
            </a:br>
            <a:r>
              <a:rPr lang="cs-CZ" dirty="0"/>
              <a:t>Správce – Škola, ředitel, Třídní Učitel</a:t>
            </a:r>
            <a:br>
              <a:rPr lang="cs-CZ" dirty="0"/>
            </a:br>
            <a:br>
              <a:rPr lang="cs-CZ" dirty="0"/>
            </a:br>
            <a:r>
              <a:rPr lang="cs-CZ" dirty="0"/>
              <a:t>Pověřenec – Já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04841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 ř. zápis známek, docházka</a:t>
            </a:r>
          </a:p>
          <a:p>
            <a:endParaRPr lang="cs-CZ" dirty="0"/>
          </a:p>
          <a:p>
            <a:r>
              <a:rPr lang="cs-CZ" dirty="0"/>
              <a:t>2 ř. Měl by vědět jak zacházet, sdílet atd.</a:t>
            </a:r>
          </a:p>
          <a:p>
            <a:endParaRPr lang="cs-CZ" dirty="0"/>
          </a:p>
          <a:p>
            <a:r>
              <a:rPr lang="cs-CZ" dirty="0"/>
              <a:t>3 ř. Např. uvidí, že se někdo snaží získat data žáků</a:t>
            </a:r>
          </a:p>
          <a:p>
            <a:endParaRPr lang="cs-CZ" dirty="0"/>
          </a:p>
          <a:p>
            <a:r>
              <a:rPr lang="cs-CZ" dirty="0"/>
              <a:t>4 ř. Pokud si zaměstnanec není jistý, zda může sdílet určité údaje, kontaktuje mě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22796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 ř. Zpracovávat jen údaje, které jsou skutečně potřebné.</a:t>
            </a:r>
          </a:p>
          <a:p>
            <a:endParaRPr lang="cs-CZ" dirty="0"/>
          </a:p>
          <a:p>
            <a:r>
              <a:rPr lang="cs-CZ" dirty="0"/>
              <a:t>2 ř. TU ověřuje, že fotky z výletu nejsou zveřejněny bez souhlasu rodičů. (souhlas na začátku roku většinou)</a:t>
            </a:r>
          </a:p>
          <a:p>
            <a:endParaRPr lang="cs-CZ" dirty="0"/>
          </a:p>
          <a:p>
            <a:r>
              <a:rPr lang="cs-CZ" dirty="0"/>
              <a:t>3 ř. Např. někdo se upsal v čárce, v kroužku atd., zapomněl zadat do systému atd.</a:t>
            </a:r>
            <a:br>
              <a:rPr lang="cs-CZ" dirty="0"/>
            </a:br>
            <a:endParaRPr lang="cs-CZ" dirty="0"/>
          </a:p>
          <a:p>
            <a:r>
              <a:rPr lang="cs-CZ" dirty="0"/>
              <a:t>4 ř. Informace o tom, jak je s daty nakládáno, jak jsou zpracovávána, zabezpečena atd.</a:t>
            </a:r>
          </a:p>
          <a:p>
            <a:endParaRPr lang="cs-CZ" dirty="0"/>
          </a:p>
          <a:p>
            <a:r>
              <a:rPr lang="cs-CZ" dirty="0"/>
              <a:t>5 ř. Nedávat věci na USB nebo do soukromých PC. Ani pracovních NTB. Nedávat hesla na NTB na papírku.</a:t>
            </a:r>
          </a:p>
          <a:p>
            <a:endParaRPr lang="cs-CZ" dirty="0"/>
          </a:p>
          <a:p>
            <a:r>
              <a:rPr lang="cs-CZ" dirty="0"/>
              <a:t>6 ř. všichni zaměstnanci musí dodržovat pravidla GDPR</a:t>
            </a:r>
          </a:p>
          <a:p>
            <a:endParaRPr lang="cs-CZ" dirty="0"/>
          </a:p>
          <a:p>
            <a:r>
              <a:rPr lang="cs-CZ" dirty="0"/>
              <a:t>7 ř. Musí být dohledatelné jak, kdy a co se změnilo v údajích žáků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0599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 ř. Osobní údaje (jméno, příjmení, datum narození, adresa, telefon, e-mail, fotografie žáků nebo zaměstnanců, číslo žákovské karty, výsledky testů, docházka, chování ve třídě)</a:t>
            </a:r>
          </a:p>
          <a:p>
            <a:endParaRPr lang="cs-CZ" dirty="0"/>
          </a:p>
          <a:p>
            <a:r>
              <a:rPr lang="cs-CZ" dirty="0"/>
              <a:t>2 ř. Aby tu vůbec mohl studovat, vedení třídní knihy, komunikace s rodiči, bezpečnost ve škole, organizace školních akcí atd.</a:t>
            </a:r>
          </a:p>
          <a:p>
            <a:endParaRPr lang="cs-CZ" dirty="0"/>
          </a:p>
          <a:p>
            <a:r>
              <a:rPr lang="cs-CZ" dirty="0"/>
              <a:t>3 č. Elektronicky či papírově - zápisy do elektronického systému, uchovávání dokumentů v sešitech, sdílení přes školní e-mail</a:t>
            </a:r>
          </a:p>
          <a:p>
            <a:endParaRPr lang="cs-CZ" dirty="0"/>
          </a:p>
          <a:p>
            <a:r>
              <a:rPr lang="cs-CZ" dirty="0"/>
              <a:t>4 ř školní server, zamčené skříně, cloudová úložiště schválená školou.</a:t>
            </a:r>
          </a:p>
          <a:p>
            <a:endParaRPr lang="cs-CZ" dirty="0"/>
          </a:p>
          <a:p>
            <a:r>
              <a:rPr lang="cs-CZ" dirty="0"/>
              <a:t>5 ř. třídní učitelé, sekretářka, školní psycholog, pověřenec pro GDPR.</a:t>
            </a:r>
          </a:p>
          <a:p>
            <a:endParaRPr lang="cs-CZ" dirty="0"/>
          </a:p>
          <a:p>
            <a:r>
              <a:rPr lang="cs-CZ" dirty="0"/>
              <a:t>6 ř. dle směrnice či zákona, 10, 5 let, po dobu </a:t>
            </a:r>
            <a:r>
              <a:rPr lang="cs-CZ" dirty="0" err="1"/>
              <a:t>relevantsnoti</a:t>
            </a:r>
            <a:r>
              <a:rPr lang="cs-CZ" dirty="0"/>
              <a:t> či bezpečí žáka</a:t>
            </a:r>
          </a:p>
          <a:p>
            <a:endParaRPr lang="cs-CZ" dirty="0"/>
          </a:p>
          <a:p>
            <a:r>
              <a:rPr lang="cs-CZ" dirty="0"/>
              <a:t>7 ř. zveřejnit na webu školy zásady zpracování osobních údajů, kontakty na DPO a účel zpracování.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1946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altLang="cs-CZ" dirty="0"/>
              <a:t>Oprávněný zájem správce. – Kamerový systém (bezpečnost a ochrana majetku), </a:t>
            </a:r>
            <a:r>
              <a:rPr lang="cs-CZ" dirty="0"/>
              <a:t>Monitoring IT sítě školy (např. ochrana proti neoprávněnému přístupu)</a:t>
            </a:r>
            <a:br>
              <a:rPr lang="cs-CZ" altLang="cs-CZ" dirty="0"/>
            </a:br>
            <a:br>
              <a:rPr lang="cs-CZ" altLang="cs-CZ" dirty="0"/>
            </a:br>
            <a:r>
              <a:rPr lang="cs-CZ" altLang="cs-CZ" dirty="0"/>
              <a:t>Se souhlasem - Např souhlas s fotografií, napsáním jména žáka na stránky nějaké soutěže atd.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69714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 ř. Např. rodiče dávají souhlas ke zveřejnění fotek žáků na webu školy. Pokud souhlas není omezený, mohly by být fotky použity i pro jiné účely, což není žádoucí.</a:t>
            </a:r>
          </a:p>
          <a:p>
            <a:endParaRPr lang="cs-CZ" dirty="0"/>
          </a:p>
          <a:p>
            <a:r>
              <a:rPr lang="cs-CZ" dirty="0"/>
              <a:t>2 ř. rodič podepisuje souhlas pouze pro zveřejnění fotek ze školního výletu, ne pro všechny školní akce.</a:t>
            </a:r>
          </a:p>
          <a:p>
            <a:endParaRPr lang="cs-CZ" dirty="0"/>
          </a:p>
          <a:p>
            <a:r>
              <a:rPr lang="cs-CZ" dirty="0"/>
              <a:t>3 ř. rodič odvolá souhlas ke zveřejnění fotek – všechny fotografie je třeba stáhnout z webu a sociálních sítí. (jak je najdeme?)</a:t>
            </a:r>
          </a:p>
          <a:p>
            <a:endParaRPr lang="cs-CZ" dirty="0"/>
          </a:p>
          <a:p>
            <a:r>
              <a:rPr lang="cs-CZ" dirty="0"/>
              <a:t>4 ř. nelze vydírat, nelze odmítnutí souhlasu podmínit tím, že žák nebude moci jet na školní výlet.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813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 ř. jaké údaje škola o něm zpracovává</a:t>
            </a:r>
          </a:p>
          <a:p>
            <a:endParaRPr lang="cs-CZ" dirty="0"/>
          </a:p>
          <a:p>
            <a:r>
              <a:rPr lang="cs-CZ" dirty="0"/>
              <a:t>3 ř. rodič žádá export výsledků testů při přestupu dítěte do jiné školy.</a:t>
            </a:r>
          </a:p>
          <a:p>
            <a:endParaRPr lang="cs-CZ" dirty="0"/>
          </a:p>
          <a:p>
            <a:r>
              <a:rPr lang="cs-CZ" dirty="0"/>
              <a:t>4 ř. Nesouhlasí, stahuje souhlas jen na jednu akci apod.. rodič nesouhlasí s publikováním fotek dítěte na webu školy.</a:t>
            </a:r>
          </a:p>
          <a:p>
            <a:endParaRPr lang="cs-CZ" dirty="0"/>
          </a:p>
          <a:p>
            <a:r>
              <a:rPr lang="cs-CZ" dirty="0"/>
              <a:t>5 ř. námitky a změny posílá mě nebo řediteli školy</a:t>
            </a:r>
          </a:p>
          <a:p>
            <a:endParaRPr lang="cs-CZ" dirty="0"/>
          </a:p>
          <a:p>
            <a:r>
              <a:rPr lang="cs-CZ" dirty="0"/>
              <a:t>6 ř. Nechceme aby to zašlo až sem. ÚOOÚ prověří, zda škola dodržela pravidla GDPR a správně reagovala na žádost o přístup k údajům.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3223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2 ř. směrnice školy papírové dokumenty ve zamčené skříni, elektronické soubory na školním serveru, ne na osobních USB nebo domácích počítačích.</a:t>
            </a:r>
          </a:p>
          <a:p>
            <a:endParaRPr lang="cs-CZ" dirty="0"/>
          </a:p>
          <a:p>
            <a:r>
              <a:rPr lang="cs-CZ" dirty="0"/>
              <a:t>3-4 ř. dát si pozor i na emaily a kopie, </a:t>
            </a:r>
            <a:r>
              <a:rPr lang="cs-CZ" dirty="0" err="1"/>
              <a:t>nenchávat</a:t>
            </a:r>
            <a:r>
              <a:rPr lang="cs-CZ" dirty="0"/>
              <a:t> hesla a papíry ležet na stole</a:t>
            </a:r>
          </a:p>
          <a:p>
            <a:endParaRPr lang="cs-CZ" dirty="0"/>
          </a:p>
          <a:p>
            <a:r>
              <a:rPr lang="cs-CZ" dirty="0"/>
              <a:t>5 ř. omezení při sportu, </a:t>
            </a:r>
            <a:r>
              <a:rPr lang="cs-CZ" dirty="0" err="1"/>
              <a:t>disgrafie</a:t>
            </a:r>
            <a:r>
              <a:rPr lang="cs-CZ" dirty="0"/>
              <a:t> atd. (by mě zajímalo jak, když každý ví kdo tyto výhody má)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28955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3 ř. necháme něco v kopírce nebo na stole</a:t>
            </a:r>
          </a:p>
          <a:p>
            <a:endParaRPr lang="cs-CZ" dirty="0"/>
          </a:p>
          <a:p>
            <a:r>
              <a:rPr lang="cs-CZ" dirty="0"/>
              <a:t>4 ř. např známky všech žáků ve třídě, když se nevypne projektor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18D968-F3FB-4AE2-A918-D1F971CC9006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185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839E2-0DF8-4227-9E82-A834806B734B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224176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D222FA-7724-445D-9E4E-F8D32564FEEA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1757885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58975B-C652-44C4-9DFB-9AB7F0C5783D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227655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D6856-40AC-4A8D-87B9-3B312FF828E6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410644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F6EB2A-181E-4F0E-8744-C90947BE612E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226201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7B610-6D4A-4A5A-9213-11FFC421CB18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5929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E3948-4635-4E53-B7ED-ECBDC1D270F9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99756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C03243-E260-40A1-9BD6-99A9C3885A1D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174504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A94D8-8CE2-4BCF-A95C-E31EE36BAE79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51498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C5BD83-9F8B-4C0C-BEDB-2DFBAD4EEED3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2938003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9DA620-7A34-49AF-96E5-EE2EF872E22D}" type="slidenum">
              <a:rPr lang="es-ES" altLang="cs-CZ"/>
              <a:pPr/>
              <a:t>‹#›</a:t>
            </a:fld>
            <a:endParaRPr lang="es-ES" altLang="cs-CZ"/>
          </a:p>
        </p:txBody>
      </p:sp>
    </p:spTree>
    <p:extLst>
      <p:ext uri="{BB962C8B-B14F-4D97-AF65-F5344CB8AC3E}">
        <p14:creationId xmlns:p14="http://schemas.microsoft.com/office/powerpoint/2010/main" val="324707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cs-CZ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cs-CZ"/>
              <a:t>Haga clic para modificar el estilo de texto del patrón</a:t>
            </a:r>
          </a:p>
          <a:p>
            <a:pPr lvl="1"/>
            <a:r>
              <a:rPr lang="es-ES" altLang="cs-CZ"/>
              <a:t>Segundo nivel</a:t>
            </a:r>
          </a:p>
          <a:p>
            <a:pPr lvl="2"/>
            <a:r>
              <a:rPr lang="es-ES" altLang="cs-CZ"/>
              <a:t>Tercer nivel</a:t>
            </a:r>
          </a:p>
          <a:p>
            <a:pPr lvl="3"/>
            <a:r>
              <a:rPr lang="es-ES" altLang="cs-CZ"/>
              <a:t>Cuarto nivel</a:t>
            </a:r>
          </a:p>
          <a:p>
            <a:pPr lvl="4"/>
            <a:r>
              <a:rPr lang="es-ES" altLang="cs-CZ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cs-CZ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cs-CZ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A26A40D-59E2-4788-9A5C-4ECA6D031BF8}" type="slidenum">
              <a:rPr lang="es-ES" altLang="cs-CZ"/>
              <a:pPr/>
              <a:t>‹#›</a:t>
            </a:fld>
            <a:endParaRPr lang="es-ES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Rectangle 173"/>
          <p:cNvSpPr>
            <a:spLocks noChangeArrowheads="1"/>
          </p:cNvSpPr>
          <p:nvPr/>
        </p:nvSpPr>
        <p:spPr bwMode="auto">
          <a:xfrm>
            <a:off x="755423" y="1844824"/>
            <a:ext cx="612068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cs-CZ" altLang="cs-CZ" sz="4000" b="1" dirty="0">
                <a:solidFill>
                  <a:srgbClr val="333333"/>
                </a:solidFill>
              </a:rPr>
              <a:t>Školení zaměstnanců SPŠ a VOŠ, Kladno</a:t>
            </a:r>
            <a:endParaRPr lang="es-ES" altLang="cs-CZ" sz="4000" b="1" dirty="0">
              <a:solidFill>
                <a:srgbClr val="333333"/>
              </a:solidFill>
            </a:endParaRPr>
          </a:p>
        </p:txBody>
      </p:sp>
      <p:sp>
        <p:nvSpPr>
          <p:cNvPr id="2222" name="Rectangle 174"/>
          <p:cNvSpPr>
            <a:spLocks noChangeArrowheads="1"/>
          </p:cNvSpPr>
          <p:nvPr/>
        </p:nvSpPr>
        <p:spPr bwMode="auto">
          <a:xfrm>
            <a:off x="755650" y="4076700"/>
            <a:ext cx="4645025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cs-CZ" altLang="cs-CZ" sz="2000" b="1" dirty="0">
                <a:solidFill>
                  <a:srgbClr val="333333"/>
                </a:solidFill>
              </a:rPr>
              <a:t>Ochrana dat, GDPR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Obsah školení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GDPR</a:t>
            </a:r>
          </a:p>
          <a:p>
            <a:pPr lvl="1"/>
            <a:r>
              <a:rPr lang="cs-CZ" altLang="cs-CZ" dirty="0"/>
              <a:t>Co to je?</a:t>
            </a:r>
          </a:p>
          <a:p>
            <a:pPr lvl="1"/>
            <a:r>
              <a:rPr lang="cs-CZ" altLang="cs-CZ" dirty="0"/>
              <a:t>Co to není?</a:t>
            </a:r>
          </a:p>
          <a:p>
            <a:r>
              <a:rPr lang="cs-CZ" altLang="cs-CZ" dirty="0"/>
              <a:t>Základní pravidla a principy</a:t>
            </a:r>
          </a:p>
          <a:p>
            <a:r>
              <a:rPr lang="cs-CZ" altLang="cs-CZ" dirty="0"/>
              <a:t>Co se týká školy</a:t>
            </a:r>
          </a:p>
          <a:p>
            <a:r>
              <a:rPr lang="cs-CZ" altLang="cs-CZ" dirty="0"/>
              <a:t>Q&amp;A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2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Co je GDPR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cs-CZ" altLang="cs-CZ" dirty="0"/>
              <a:t>Sada pravidel k ochraně osobních údajů/dat občanů členských států EU.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cs-CZ" altLang="cs-CZ" dirty="0"/>
              <a:t>Nařízení EK.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cs-CZ" altLang="cs-CZ" dirty="0"/>
              <a:t>Platné od 27. dubna 2016.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cs-CZ" altLang="cs-CZ" dirty="0"/>
              <a:t>Účinné od 25. května 2018.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cs-CZ" altLang="cs-CZ" dirty="0"/>
              <a:t>Standardizace existujících pravidel v rámci EU.</a:t>
            </a:r>
          </a:p>
          <a:p>
            <a:endParaRPr lang="cs-CZ" altLang="cs-CZ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Co GDPR není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cs-CZ" altLang="cs-CZ" dirty="0"/>
              <a:t>Něco zcela nového.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cs-CZ" altLang="cs-CZ" dirty="0"/>
              <a:t>Konkrétní a jednoznačné.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cs-CZ" altLang="cs-CZ" dirty="0"/>
              <a:t>Neřeší data zpracovávaná soukromě.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cs-CZ" altLang="cs-CZ" dirty="0"/>
              <a:t>Náhrada ochrany osobnosti dle OZ.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cs-CZ" altLang="cs-CZ" dirty="0"/>
              <a:t>Formalita (nemělo by být).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"/>
            </a:pPr>
            <a:r>
              <a:rPr lang="cs-CZ" altLang="cs-CZ" dirty="0"/>
              <a:t>Neřešitelný problém.</a:t>
            </a:r>
          </a:p>
        </p:txBody>
      </p:sp>
    </p:spTree>
    <p:extLst>
      <p:ext uri="{BB962C8B-B14F-4D97-AF65-F5344CB8AC3E}">
        <p14:creationId xmlns:p14="http://schemas.microsoft.com/office/powerpoint/2010/main" val="204489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Hlavní pojmy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b="1" dirty="0"/>
              <a:t>Osobní údaj </a:t>
            </a:r>
            <a:r>
              <a:rPr lang="cs-CZ" altLang="cs-CZ" dirty="0"/>
              <a:t>– prakticky cokoliv </a:t>
            </a:r>
            <a:r>
              <a:rPr lang="cs-CZ" altLang="cs-CZ" b="1" dirty="0"/>
              <a:t>Zpracování</a:t>
            </a:r>
            <a:r>
              <a:rPr lang="cs-CZ" altLang="cs-CZ" dirty="0"/>
              <a:t> – jakákoliv činnost včetně prostého uložení.</a:t>
            </a:r>
          </a:p>
          <a:p>
            <a:r>
              <a:rPr lang="cs-CZ" altLang="cs-CZ" b="1" dirty="0"/>
              <a:t>Zvláštní kategorie </a:t>
            </a:r>
            <a:r>
              <a:rPr lang="cs-CZ" altLang="cs-CZ" dirty="0"/>
              <a:t>– Extra citlivé</a:t>
            </a:r>
            <a:br>
              <a:rPr lang="cs-CZ" altLang="cs-CZ" dirty="0"/>
            </a:br>
            <a:r>
              <a:rPr lang="cs-CZ" altLang="cs-CZ" dirty="0"/>
              <a:t>         – ve škole hlavně zdravotní.</a:t>
            </a:r>
          </a:p>
          <a:p>
            <a:r>
              <a:rPr lang="cs-CZ" altLang="cs-CZ" b="1" dirty="0"/>
              <a:t>Správce</a:t>
            </a:r>
            <a:r>
              <a:rPr lang="cs-CZ" altLang="cs-CZ" dirty="0"/>
              <a:t> – právnická osoba která data prvotně získala a zpracovává je.</a:t>
            </a:r>
          </a:p>
          <a:p>
            <a:r>
              <a:rPr lang="cs-CZ" altLang="cs-CZ" b="1" dirty="0"/>
              <a:t>Pověřenec</a:t>
            </a:r>
            <a:r>
              <a:rPr lang="cs-CZ" altLang="cs-CZ" dirty="0"/>
              <a:t> – konzultant, styčná osoba navenek.</a:t>
            </a:r>
          </a:p>
        </p:txBody>
      </p:sp>
    </p:spTree>
    <p:extLst>
      <p:ext uri="{BB962C8B-B14F-4D97-AF65-F5344CB8AC3E}">
        <p14:creationId xmlns:p14="http://schemas.microsoft.com/office/powerpoint/2010/main" val="317527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cs-CZ" dirty="0"/>
              <a:t>Role zaměstnance správce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Zaměstnanec se v rámci své pracovní činnosti podílí na zpracování dat.</a:t>
            </a:r>
          </a:p>
          <a:p>
            <a:r>
              <a:rPr lang="cs-CZ" dirty="0"/>
              <a:t>Zaměstnanec je seznámen s pravidly </a:t>
            </a:r>
            <a:br>
              <a:rPr lang="cs-CZ" dirty="0"/>
            </a:br>
            <a:r>
              <a:rPr lang="cs-CZ" dirty="0"/>
              <a:t>a směrnicemi </a:t>
            </a:r>
            <a:r>
              <a:rPr lang="cs-CZ"/>
              <a:t>správce (new.spskladno</a:t>
            </a:r>
            <a:r>
              <a:rPr lang="cs-CZ" dirty="0"/>
              <a:t>.cz/</a:t>
            </a:r>
            <a:r>
              <a:rPr lang="cs-CZ" dirty="0" err="1"/>
              <a:t>skola</a:t>
            </a:r>
            <a:r>
              <a:rPr lang="cs-CZ" dirty="0"/>
              <a:t>/</a:t>
            </a:r>
            <a:r>
              <a:rPr lang="cs-CZ" dirty="0" err="1"/>
              <a:t>gdpr</a:t>
            </a:r>
            <a:r>
              <a:rPr lang="cs-CZ" dirty="0"/>
              <a:t>).</a:t>
            </a:r>
          </a:p>
          <a:p>
            <a:r>
              <a:rPr lang="cs-CZ" dirty="0"/>
              <a:t>Zaměstnanec dodržuje pravidla </a:t>
            </a:r>
            <a:br>
              <a:rPr lang="cs-CZ" dirty="0"/>
            </a:br>
            <a:r>
              <a:rPr lang="cs-CZ" dirty="0"/>
              <a:t>a upozorňuje na možné problémy </a:t>
            </a:r>
            <a:br>
              <a:rPr lang="cs-CZ" dirty="0"/>
            </a:br>
            <a:r>
              <a:rPr lang="cs-CZ" dirty="0"/>
              <a:t>na úseku ochrany dat.</a:t>
            </a:r>
          </a:p>
          <a:p>
            <a:r>
              <a:rPr lang="cs-CZ" dirty="0"/>
              <a:t>Při nejasnostech zaměstnanec kontaktuje pověřence.</a:t>
            </a:r>
            <a:br>
              <a:rPr lang="cs-CZ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11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Základní pravidla a principy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Minimalizace zpracování.</a:t>
            </a:r>
          </a:p>
          <a:p>
            <a:r>
              <a:rPr lang="cs-CZ" altLang="cs-CZ" dirty="0"/>
              <a:t>Sebekontrola.</a:t>
            </a:r>
          </a:p>
          <a:p>
            <a:r>
              <a:rPr lang="cs-CZ" altLang="cs-CZ" dirty="0"/>
              <a:t>Hledat vlastní chyby.</a:t>
            </a:r>
          </a:p>
          <a:p>
            <a:r>
              <a:rPr lang="cs-CZ" altLang="cs-CZ" dirty="0"/>
              <a:t>Transparentnost.</a:t>
            </a:r>
          </a:p>
          <a:p>
            <a:r>
              <a:rPr lang="cs-CZ" altLang="cs-CZ" dirty="0"/>
              <a:t>Dodržování procesů.</a:t>
            </a:r>
          </a:p>
          <a:p>
            <a:r>
              <a:rPr lang="cs-CZ" altLang="cs-CZ" dirty="0"/>
              <a:t>Zapojení všech zúčastněných.</a:t>
            </a:r>
          </a:p>
          <a:p>
            <a:r>
              <a:rPr lang="cs-CZ" altLang="cs-CZ" dirty="0"/>
              <a:t>Prokázat soulad s GDPR.</a:t>
            </a:r>
          </a:p>
          <a:p>
            <a:endParaRPr lang="cs-CZ" altLang="cs-CZ" dirty="0"/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359277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Hlavní otázky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Co zpracováváme?</a:t>
            </a:r>
          </a:p>
          <a:p>
            <a:r>
              <a:rPr lang="cs-CZ" altLang="cs-CZ" dirty="0"/>
              <a:t>Proč?</a:t>
            </a:r>
          </a:p>
          <a:p>
            <a:r>
              <a:rPr lang="cs-CZ" altLang="cs-CZ" dirty="0"/>
              <a:t>Jak?</a:t>
            </a:r>
          </a:p>
          <a:p>
            <a:pPr lvl="1"/>
            <a:r>
              <a:rPr lang="cs-CZ" altLang="cs-CZ" dirty="0"/>
              <a:t>Kde?</a:t>
            </a:r>
          </a:p>
          <a:p>
            <a:pPr lvl="1"/>
            <a:r>
              <a:rPr lang="cs-CZ" altLang="cs-CZ" dirty="0"/>
              <a:t>Kdo?</a:t>
            </a:r>
          </a:p>
          <a:p>
            <a:pPr lvl="1"/>
            <a:r>
              <a:rPr lang="cs-CZ" altLang="cs-CZ" dirty="0"/>
              <a:t>Do kdy?</a:t>
            </a:r>
          </a:p>
          <a:p>
            <a:r>
              <a:rPr lang="cs-CZ" altLang="cs-CZ" dirty="0"/>
              <a:t>Správce to musí vědět, něco i zveřejnit.</a:t>
            </a:r>
          </a:p>
          <a:p>
            <a:endParaRPr lang="cs-CZ" altLang="cs-CZ" dirty="0"/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308841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Legální důvody ke zpracování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Ze zákona.</a:t>
            </a:r>
          </a:p>
          <a:p>
            <a:pPr lvl="1"/>
            <a:r>
              <a:rPr lang="cs-CZ" altLang="cs-CZ" dirty="0"/>
              <a:t>„nejjednodušší“ varianta.</a:t>
            </a:r>
          </a:p>
          <a:p>
            <a:pPr lvl="1"/>
            <a:r>
              <a:rPr lang="cs-CZ" altLang="cs-CZ" dirty="0"/>
              <a:t>Ve škole nejčastěji.</a:t>
            </a:r>
          </a:p>
          <a:p>
            <a:r>
              <a:rPr lang="cs-CZ" altLang="cs-CZ" dirty="0"/>
              <a:t>Oprávněný zájem správce.</a:t>
            </a:r>
          </a:p>
          <a:p>
            <a:pPr lvl="1"/>
            <a:r>
              <a:rPr lang="cs-CZ" altLang="cs-CZ" dirty="0"/>
              <a:t>Univerzální, ale je nutné si ho obhájit.</a:t>
            </a:r>
          </a:p>
          <a:p>
            <a:r>
              <a:rPr lang="cs-CZ" altLang="cs-CZ" dirty="0"/>
              <a:t>Se souhlasem.</a:t>
            </a:r>
          </a:p>
          <a:p>
            <a:pPr lvl="1"/>
            <a:r>
              <a:rPr lang="cs-CZ" altLang="cs-CZ" dirty="0"/>
              <a:t>Cokoliv, ale… .</a:t>
            </a:r>
          </a:p>
          <a:p>
            <a:pPr lvl="1"/>
            <a:r>
              <a:rPr lang="cs-CZ" altLang="cs-CZ" dirty="0"/>
              <a:t>Nutno respektovat nedání souhlasu.</a:t>
            </a:r>
          </a:p>
          <a:p>
            <a:endParaRPr lang="cs-CZ" altLang="cs-CZ" dirty="0"/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331316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Problémy souhlasů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Umožňují zpracovávat cokoliv, pokud subjekt souhlasí.</a:t>
            </a:r>
          </a:p>
          <a:p>
            <a:r>
              <a:rPr lang="cs-CZ" altLang="cs-CZ" dirty="0"/>
              <a:t>Souhlas musí být svobodný, konkrétní </a:t>
            </a:r>
            <a:br>
              <a:rPr lang="cs-CZ" altLang="cs-CZ" dirty="0"/>
            </a:br>
            <a:r>
              <a:rPr lang="cs-CZ" altLang="cs-CZ" dirty="0"/>
              <a:t>a informovaný.</a:t>
            </a:r>
          </a:p>
          <a:p>
            <a:r>
              <a:rPr lang="cs-CZ" altLang="cs-CZ" dirty="0"/>
              <a:t>Souhlas může být kdykoliv odvolán (největší problém).</a:t>
            </a:r>
          </a:p>
          <a:p>
            <a:r>
              <a:rPr lang="cs-CZ" altLang="cs-CZ" dirty="0"/>
              <a:t>Souhlas nelze vyžadovat, ani vyžadovat explicitní odmítnutí.</a:t>
            </a:r>
          </a:p>
          <a:p>
            <a:endParaRPr lang="cs-CZ" altLang="cs-CZ" dirty="0"/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218681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Práva subjektů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Právo na přístup.</a:t>
            </a:r>
          </a:p>
          <a:p>
            <a:r>
              <a:rPr lang="cs-CZ" altLang="cs-CZ" dirty="0"/>
              <a:t>Právo na opravu chyb v datech.</a:t>
            </a:r>
          </a:p>
          <a:p>
            <a:r>
              <a:rPr lang="cs-CZ" altLang="cs-CZ" dirty="0"/>
              <a:t>Právo na přenositelnost.</a:t>
            </a:r>
          </a:p>
          <a:p>
            <a:r>
              <a:rPr lang="cs-CZ" altLang="cs-CZ" dirty="0"/>
              <a:t>Právo na námitku.</a:t>
            </a:r>
          </a:p>
          <a:p>
            <a:r>
              <a:rPr lang="cs-CZ" altLang="cs-CZ" dirty="0"/>
              <a:t>Využití svého práva subjekt oznamuje správci, nebo přímo pověřenci.</a:t>
            </a:r>
          </a:p>
          <a:p>
            <a:r>
              <a:rPr lang="cs-CZ" altLang="cs-CZ" dirty="0"/>
              <a:t>Při nesouhlasu s vyřízením, následuje ÚOOÚ a soudy.</a:t>
            </a:r>
          </a:p>
          <a:p>
            <a:endParaRPr lang="cs-CZ" altLang="cs-CZ" dirty="0"/>
          </a:p>
          <a:p>
            <a:pPr lvl="1"/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46236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Specifika školy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Uvědomit si, že zpracováváme osobní data.</a:t>
            </a:r>
          </a:p>
          <a:p>
            <a:r>
              <a:rPr lang="cs-CZ" altLang="cs-CZ" dirty="0"/>
              <a:t>Místa a způsoby uložení dat určuje směrnice.</a:t>
            </a:r>
          </a:p>
          <a:p>
            <a:r>
              <a:rPr lang="cs-CZ" altLang="cs-CZ" dirty="0"/>
              <a:t>Nepředávat data, nezveřejňovat.</a:t>
            </a:r>
          </a:p>
          <a:p>
            <a:r>
              <a:rPr lang="cs-CZ" altLang="cs-CZ" dirty="0"/>
              <a:t>Pozor na nedbalost při zpracování/uložení.</a:t>
            </a:r>
          </a:p>
          <a:p>
            <a:r>
              <a:rPr lang="cs-CZ" altLang="cs-CZ" dirty="0"/>
              <a:t>Zpracováváme i údaje zvláštní kategorie (zdravotní stav).</a:t>
            </a:r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1726011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4450"/>
            <a:ext cx="8229600" cy="981075"/>
          </a:xfrm>
        </p:spPr>
        <p:txBody>
          <a:bodyPr/>
          <a:lstStyle/>
          <a:p>
            <a:r>
              <a:rPr lang="cs-CZ" altLang="cs-CZ" dirty="0">
                <a:solidFill>
                  <a:schemeClr val="tx1"/>
                </a:solidFill>
              </a:rPr>
              <a:t>Nejčastější chyby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 dirty="0"/>
              <a:t>Vytváření „soukromých“ kopií dat žáků.</a:t>
            </a:r>
          </a:p>
          <a:p>
            <a:r>
              <a:rPr lang="cs-CZ" altLang="cs-CZ" dirty="0"/>
              <a:t>Ukládání dat mimo školní systémy.</a:t>
            </a:r>
          </a:p>
          <a:p>
            <a:r>
              <a:rPr lang="cs-CZ" altLang="cs-CZ" dirty="0"/>
              <a:t>Ledabylost při nakládání s listinnými dokumenty (seznamy, písemky…).</a:t>
            </a:r>
          </a:p>
          <a:p>
            <a:r>
              <a:rPr lang="cs-CZ" altLang="cs-CZ" dirty="0"/>
              <a:t>Zpřístupňování dat třetím osobám (ostatním žákům, rodičům,…).</a:t>
            </a:r>
          </a:p>
          <a:p>
            <a:r>
              <a:rPr lang="cs-CZ" altLang="cs-CZ" dirty="0"/>
              <a:t>Předávání dat nezabezpečenými kanály.</a:t>
            </a:r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  <a:p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2893285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cs-CZ" dirty="0"/>
              <a:t>Otázky a diskuse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vím – odpovím.</a:t>
            </a:r>
          </a:p>
        </p:txBody>
      </p:sp>
    </p:spTree>
    <p:extLst>
      <p:ext uri="{BB962C8B-B14F-4D97-AF65-F5344CB8AC3E}">
        <p14:creationId xmlns:p14="http://schemas.microsoft.com/office/powerpoint/2010/main" val="346169244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5604</TotalTime>
  <Words>1344</Words>
  <Application>Microsoft Office PowerPoint</Application>
  <PresentationFormat>Předvádění na obrazovce (4:3)</PresentationFormat>
  <Paragraphs>177</Paragraphs>
  <Slides>14</Slides>
  <Notes>11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8" baseType="lpstr">
      <vt:lpstr>Aptos</vt:lpstr>
      <vt:lpstr>Arial</vt:lpstr>
      <vt:lpstr>Wingdings</vt:lpstr>
      <vt:lpstr>Diseño predeterminado</vt:lpstr>
      <vt:lpstr>Prezentace aplikace PowerPoint</vt:lpstr>
      <vt:lpstr>Obsah školení</vt:lpstr>
      <vt:lpstr>Co je GDPR</vt:lpstr>
      <vt:lpstr>Co GDPR není</vt:lpstr>
      <vt:lpstr>Hlavní pojmy</vt:lpstr>
      <vt:lpstr>Role zaměstnance správce</vt:lpstr>
      <vt:lpstr>Základní pravidla a principy</vt:lpstr>
      <vt:lpstr>Hlavní otázky</vt:lpstr>
      <vt:lpstr>Legální důvody ke zpracování</vt:lpstr>
      <vt:lpstr>Problémy souhlasů</vt:lpstr>
      <vt:lpstr>Práva subjektů</vt:lpstr>
      <vt:lpstr>Specifika školy</vt:lpstr>
      <vt:lpstr>Nejčastější chyby</vt:lpstr>
      <vt:lpstr>Otázky a diskuse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Koudelka Matěj, Ing.</cp:lastModifiedBy>
  <cp:revision>817</cp:revision>
  <dcterms:created xsi:type="dcterms:W3CDTF">2010-05-23T14:28:12Z</dcterms:created>
  <dcterms:modified xsi:type="dcterms:W3CDTF">2025-08-23T17:31:49Z</dcterms:modified>
</cp:coreProperties>
</file>